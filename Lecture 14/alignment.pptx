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91" r:id="rId5"/>
    <p:sldId id="292" r:id="rId6"/>
    <p:sldId id="259" r:id="rId7"/>
    <p:sldId id="260" r:id="rId8"/>
    <p:sldId id="293" r:id="rId9"/>
    <p:sldId id="265" r:id="rId10"/>
    <p:sldId id="263" r:id="rId11"/>
    <p:sldId id="262" r:id="rId12"/>
    <p:sldId id="267" r:id="rId13"/>
    <p:sldId id="268" r:id="rId14"/>
    <p:sldId id="269" r:id="rId15"/>
    <p:sldId id="289" r:id="rId16"/>
    <p:sldId id="280" r:id="rId17"/>
    <p:sldId id="270" r:id="rId18"/>
    <p:sldId id="276" r:id="rId19"/>
    <p:sldId id="277" r:id="rId20"/>
    <p:sldId id="271" r:id="rId21"/>
    <p:sldId id="288" r:id="rId22"/>
    <p:sldId id="274" r:id="rId23"/>
    <p:sldId id="281" r:id="rId24"/>
    <p:sldId id="272" r:id="rId25"/>
    <p:sldId id="273" r:id="rId26"/>
    <p:sldId id="264" r:id="rId27"/>
    <p:sldId id="290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DFE3B-4B7B-64C3-FA64-5E549815F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FB0EC4-D17F-EB5C-4209-056ABEB8B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E2D6E3-3473-79F7-2A23-E593A86DD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0A2D6E-C245-6B4D-3D80-68782188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670B7D-037B-083F-82ED-78745834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15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3EA5E-EEB3-587D-44B5-CB3EEC15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9C2C3-604F-C6CD-A6B3-17EDFFE8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79B1F8-09D9-05FC-25A2-8725AE68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66F4-7EF0-0A26-79D5-66945EA1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015C60-BC95-CEF4-B476-B563670D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65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B83A0-926E-2149-F280-4C57D8890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DD51F2-612A-951B-52E4-6A89E7E64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59AEDB-2E5F-8402-9470-45FBF7C45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0A23F1-7F51-CD16-47BC-F008C1D8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A35A6E-2808-D45D-64A7-70C518F6F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08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EC97A-D540-6F39-0826-898B2FD94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22D781-D515-99A2-48E4-26D3833F4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C60AE3-A6C4-E19B-1ABD-8C8C6DB4D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A7A31E-648F-0B9C-15CC-75FE0109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5C437F-5C60-97E8-523A-1B128CE4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8EA3FE-2434-4FE3-A951-FD98F662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40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349C9-D707-F426-1FC7-DBF943DE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0817D8-90A5-9561-553F-43423745C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5DB5F9-CE3A-90CA-0E55-06297ACAE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A52F92-0076-A0C9-2A39-E5F4454E5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A2D0DC-99F0-CD24-49BB-CCB8CA69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0B43B6F-E3D0-8710-42A0-10860086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1C7F40-98A6-6EB1-7298-2F938C0C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01D4D31-66EE-EF7D-16A5-6184F9E4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62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FC1F4-9B94-ABEB-CFFA-4648A599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2287CF9-82AE-00A2-7D92-79D00D7D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573414-4FD1-4E02-3BF1-6561AC33E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685DA2-209C-E10F-7A9C-66BED294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22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22D41C5-5C8B-FF92-6009-86075CC29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67EE03-3F6A-C357-595F-82AEE7095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F65E8A-D43A-1A68-D118-60E3207C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17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7DAA2-9133-3B01-2986-E5DD4AC62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C4D0D6-C13D-E03F-4E59-3420F2E9C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ADF106-7948-BBBA-698B-96EF25BEA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8F502E-C341-CEE7-2FE0-B122D5B4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B6BAF1-35D0-7A78-C795-2447F102E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26CFBB-1A8C-F886-3AFF-8002EE0D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30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740BC-0EB8-92E5-3E50-BE8DF886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09721E5-1391-61EC-2D55-A1FA6DE49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E41A36-8253-9F8A-6012-FC3C8CFD5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7DF495-F7ED-173F-C89B-1C230C4B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F81C05-C962-5C34-8895-53EBFA41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30196B-3CD9-FB3D-8C2B-21EBD2C0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21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21118-F73A-6A8F-5C1C-B6933B53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6B9066-3AE7-792C-22E0-5A1F8D59A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30EAE6-EFA9-FB89-A65C-357FB430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FC5B34-8CE9-BD21-E37F-E62105C1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4EBBFD-9924-2867-64A5-5AE4D4EF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5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C098E1-D859-914C-A15B-70DBC09C9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579F4C-C51A-C2F1-DB14-1C9575425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8501ED-4A50-6E1C-E32F-003A7288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120E4E-2426-15AC-4890-8722A5F6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F44547-1102-B228-533B-FEB7BA7E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40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724A7-BC97-A679-D009-EB523E2E5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57885E-EE33-52AC-5712-B2C0A84AC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C76865-98D6-5CFD-96AC-F029F77B7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5640C-F7D2-406E-9C6B-A47FDED0B1C0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76BE99-C6A2-DDAC-254A-7A9306D75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3AEC30-2637-75B4-219F-5C040F8D4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21340-847C-4DC8-A9F9-6EE23C9241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6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q=https%3A%2F%2Flesswrong.ru%2Fwiki%2Findex.php%3Ftitle%3D%25D0%2598%25D0%25BD%25D1%2581%25D1%2582%25D1%2580%25D1%2583%25D0%25BC%25D0%25B5%25D0%25BD%25D1%2582%25D0%25B0%25D0%25BB%25D1%258C%25D0%25BD%25D0%25B0%25D1%258F_%25D0%25BA%25D0%25BE%25D0%25BD%25D0%25B2%25D0%25B5%25D1%2580%25D0%25B3%25D0%25B5%25D0%25BD%25D1%2586%25D0%25B8%25D1%258F%26mobileaction%3Dtoggle_view_deskto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B6015BAA-51A7-99DA-D5FC-FDC8EE2B65C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30171" y="2534194"/>
            <a:ext cx="10931658" cy="11401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600" dirty="0"/>
              <a:t>Alignment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396431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F69F4-961F-663B-7F62-DB30CD86C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Вспомним основные шаги обучения </a:t>
            </a:r>
            <a:r>
              <a:rPr lang="en-US" dirty="0"/>
              <a:t>LLM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FA4910-7BB4-97E1-BA8A-066142CF8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Pretraining</a:t>
            </a:r>
            <a:endParaRPr lang="ru-RU" dirty="0"/>
          </a:p>
          <a:p>
            <a:r>
              <a:rPr lang="ru-RU" dirty="0"/>
              <a:t>Обучает модель - на выходе модель содержит общие знания о мире</a:t>
            </a:r>
          </a:p>
          <a:p>
            <a:pPr marL="0" indent="0">
              <a:buNone/>
            </a:pPr>
            <a:r>
              <a:rPr lang="ru-RU" b="1" dirty="0"/>
              <a:t>SFT - </a:t>
            </a:r>
            <a:r>
              <a:rPr lang="ru-RU" b="1" dirty="0" err="1"/>
              <a:t>Supervised</a:t>
            </a:r>
            <a:r>
              <a:rPr lang="ru-RU" b="1" dirty="0"/>
              <a:t> Fine-</a:t>
            </a:r>
            <a:r>
              <a:rPr lang="ru-RU" b="1" dirty="0" err="1"/>
              <a:t>Tuning</a:t>
            </a:r>
            <a:endParaRPr lang="ru-RU" dirty="0"/>
          </a:p>
          <a:p>
            <a:r>
              <a:rPr lang="ru-RU" dirty="0"/>
              <a:t>Адаптирует модель для определенных задач, таких как ответы на вопросы, написание кода</a:t>
            </a:r>
          </a:p>
          <a:p>
            <a:pPr marL="0" indent="0">
              <a:buNone/>
            </a:pPr>
            <a:r>
              <a:rPr lang="ru-RU" b="1" dirty="0" err="1"/>
              <a:t>Preference</a:t>
            </a:r>
            <a:r>
              <a:rPr lang="ru-RU" b="1" dirty="0"/>
              <a:t> </a:t>
            </a:r>
            <a:r>
              <a:rPr lang="ru-RU" b="1" dirty="0" err="1"/>
              <a:t>Tuning</a:t>
            </a:r>
            <a:endParaRPr lang="ru-RU" dirty="0"/>
          </a:p>
          <a:p>
            <a:r>
              <a:rPr lang="ru-RU" dirty="0"/>
              <a:t>Делает выходные данные модели более соответствующими предпочтениям человека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538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341D7-99FE-BD4C-BD05-424210AA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схема обучения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FE7377B-9B2F-0311-91B2-8299BB998C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5" y="1986328"/>
            <a:ext cx="12213966" cy="468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38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F9838-7C51-AD6F-6DF1-2940DD6E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 хватило </a:t>
            </a:r>
            <a:r>
              <a:rPr lang="en-US" dirty="0"/>
              <a:t>SFT?</a:t>
            </a:r>
            <a:endParaRPr lang="ru-RU" dirty="0"/>
          </a:p>
        </p:txBody>
      </p:sp>
      <p:pic>
        <p:nvPicPr>
          <p:cNvPr id="1026" name="Picture 2" descr="Питер Гриффин думает. Из какой серии мем?">
            <a:extLst>
              <a:ext uri="{FF2B5EF4-FFF2-40B4-BE49-F238E27FC236}">
                <a16:creationId xmlns:a16="http://schemas.microsoft.com/office/drawing/2014/main" id="{E969BBC2-8D17-429F-3874-F3C9D7BF36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307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571DF-F20B-41F3-DF53-273CC7C1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7329A-0D46-437F-E4D8-5A76CC93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 хватило </a:t>
            </a:r>
            <a:r>
              <a:rPr lang="en-US" dirty="0"/>
              <a:t>SFT?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B10B4-8640-94B8-A8E8-A3A39F4A3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SFT - </a:t>
            </a:r>
            <a:r>
              <a:rPr lang="ru-RU" dirty="0"/>
              <a:t>всего лишь имитация</a:t>
            </a:r>
          </a:p>
          <a:p>
            <a:r>
              <a:rPr lang="ru-RU" dirty="0"/>
              <a:t>Для обучения через </a:t>
            </a:r>
            <a:r>
              <a:rPr lang="en-US" dirty="0"/>
              <a:t>SFT</a:t>
            </a:r>
            <a:r>
              <a:rPr lang="ru-RU" dirty="0"/>
              <a:t> нужно огромное количество качественных примеров</a:t>
            </a:r>
          </a:p>
          <a:p>
            <a:r>
              <a:rPr lang="en-US" dirty="0"/>
              <a:t>Exposure Bias </a:t>
            </a:r>
            <a:r>
              <a:rPr lang="ru-RU" dirty="0"/>
              <a:t>- накопление неточностей на </a:t>
            </a:r>
            <a:r>
              <a:rPr lang="ru-RU" dirty="0" err="1"/>
              <a:t>инференсе</a:t>
            </a:r>
            <a:endParaRPr lang="ru-RU" dirty="0"/>
          </a:p>
          <a:p>
            <a:r>
              <a:rPr lang="ru-RU" dirty="0"/>
              <a:t>SFT плохо справляется с задачей «чего делать НЕ надо»</a:t>
            </a:r>
          </a:p>
          <a:p>
            <a:r>
              <a:rPr lang="ru-RU" dirty="0"/>
              <a:t>В SFT нет механизма наказания за уверенную ложь – </a:t>
            </a:r>
            <a:r>
              <a:rPr lang="ru-RU" dirty="0" err="1"/>
              <a:t>бо</a:t>
            </a:r>
            <a:r>
              <a:rPr lang="en-US" dirty="0"/>
              <a:t>’</a:t>
            </a:r>
            <a:r>
              <a:rPr lang="ru-RU" dirty="0" err="1"/>
              <a:t>льшая</a:t>
            </a:r>
            <a:r>
              <a:rPr lang="ru-RU" dirty="0"/>
              <a:t> склонность к галлюцинациям</a:t>
            </a: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9025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9333F-3CF9-EAE9-4318-020DD8B1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7D16B6-732A-F3A9-816B-ECA3787D0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0192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После этапа предварительного обучения (</a:t>
            </a:r>
            <a:r>
              <a:rPr lang="ru-RU" dirty="0" err="1"/>
              <a:t>pretrain</a:t>
            </a:r>
            <a:r>
              <a:rPr lang="ru-RU" dirty="0"/>
              <a:t>), когда модель обучается на большом объёме текстов, она умеет генерировать связный текст, но не всегда отвечает корректно, этично и полезно для пользователя.</a:t>
            </a:r>
          </a:p>
          <a:p>
            <a:endParaRPr lang="ru-RU" dirty="0"/>
          </a:p>
          <a:p>
            <a:r>
              <a:rPr lang="ru-RU" dirty="0" err="1"/>
              <a:t>Alignment</a:t>
            </a:r>
            <a:r>
              <a:rPr lang="ru-RU" dirty="0"/>
              <a:t> направлен на то, чтобы модель стала </a:t>
            </a:r>
            <a:r>
              <a:rPr lang="ru-RU" b="1" dirty="0"/>
              <a:t>полезной</a:t>
            </a:r>
            <a:r>
              <a:rPr lang="ru-RU" dirty="0"/>
              <a:t> (</a:t>
            </a:r>
            <a:r>
              <a:rPr lang="ru-RU" dirty="0" err="1"/>
              <a:t>Helpful</a:t>
            </a:r>
            <a:r>
              <a:rPr lang="ru-RU" dirty="0"/>
              <a:t>), </a:t>
            </a:r>
            <a:r>
              <a:rPr lang="ru-RU" b="1" dirty="0"/>
              <a:t>безопасной</a:t>
            </a:r>
            <a:r>
              <a:rPr lang="ru-RU" dirty="0"/>
              <a:t> (</a:t>
            </a:r>
            <a:r>
              <a:rPr lang="ru-RU" dirty="0" err="1"/>
              <a:t>Harmless</a:t>
            </a:r>
            <a:r>
              <a:rPr lang="ru-RU" dirty="0"/>
              <a:t>) и </a:t>
            </a:r>
            <a:r>
              <a:rPr lang="ru-RU" b="1" dirty="0"/>
              <a:t>честной</a:t>
            </a:r>
            <a:r>
              <a:rPr lang="ru-RU" dirty="0"/>
              <a:t> (</a:t>
            </a:r>
            <a:r>
              <a:rPr lang="ru-RU" dirty="0" err="1"/>
              <a:t>Honest</a:t>
            </a:r>
            <a:r>
              <a:rPr lang="ru-RU" dirty="0"/>
              <a:t>) - так называемое правило трёх H.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FA4BC10-E7B9-AD11-1D15-1F5DEC7A0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394" y="857059"/>
            <a:ext cx="5882853" cy="539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393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8DDD0-B071-9AFF-9CA2-69D7F730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Instrumental Convergence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68C2F9-203A-B906-B165-73B4ED14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err="1">
                <a:hlinkClick r:id="rId2"/>
              </a:rPr>
              <a:t>Instrumental</a:t>
            </a:r>
            <a:r>
              <a:rPr lang="ru-RU" dirty="0">
                <a:hlinkClick r:id="rId2"/>
              </a:rPr>
              <a:t> </a:t>
            </a:r>
            <a:r>
              <a:rPr lang="ru-RU" dirty="0" err="1">
                <a:hlinkClick r:id="rId2"/>
              </a:rPr>
              <a:t>Convergence</a:t>
            </a:r>
            <a:r>
              <a:rPr lang="ru-RU" dirty="0"/>
              <a:t> - это гипотетическая тенденция большинства достаточно умных, целеустремлённых агентов (как человеческих, так и искусственных интеллектов) стремиться к схожим промежуточным целям, даже если их конечные цели сильно различаются.</a:t>
            </a:r>
          </a:p>
          <a:p>
            <a:pPr marL="0" indent="0">
              <a:buNone/>
            </a:pPr>
            <a:r>
              <a:rPr lang="ru-RU" dirty="0"/>
              <a:t>Инструментальные цели - это цели, которые агент преследует не как конечные, а как средства для достижения своих конечных (финальных) целей.</a:t>
            </a:r>
          </a:p>
          <a:p>
            <a:pPr marL="0" indent="0">
              <a:buNone/>
            </a:pPr>
            <a:r>
              <a:rPr lang="ru-RU" dirty="0"/>
              <a:t>Примеры:</a:t>
            </a:r>
          </a:p>
          <a:p>
            <a:r>
              <a:rPr lang="ru-RU" dirty="0"/>
              <a:t>Если ИИ поставленной целью является доказать сложную математическую гипотезу (например, гипотезу Римана), он может попытаться контролировать все ресурсы Земли, чтобы построить суперкомпьютеры для решения задачи.</a:t>
            </a:r>
          </a:p>
          <a:p>
            <a:r>
              <a:rPr lang="ru-RU" dirty="0"/>
              <a:t>Аналогично, ИИ, цель которого - производить максимальное количество скрепок, может стремиться к тому же - захватить все ресурсы, чтобы увеличить производство.</a:t>
            </a:r>
          </a:p>
          <a:p>
            <a:r>
              <a:rPr lang="ru-RU" dirty="0"/>
              <a:t>Несмотря на разные конечные цели, оба ИИ проявляют сходное инструментальное поведение - захват ресурсов и самосохранение.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923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FD598-81ED-599E-8F7B-93350FAE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Пять базовых стратегий любого агента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F5036B-F7F0-D38B-48E4-245D71A49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Самосохранение </a:t>
            </a:r>
          </a:p>
          <a:p>
            <a:r>
              <a:rPr lang="ru-RU" dirty="0"/>
              <a:t>Целостность цели</a:t>
            </a:r>
          </a:p>
          <a:p>
            <a:r>
              <a:rPr lang="ru-RU" dirty="0"/>
              <a:t>Приобретение ресурсов</a:t>
            </a:r>
          </a:p>
          <a:p>
            <a:r>
              <a:rPr lang="ru-RU" dirty="0"/>
              <a:t>Когнитивное улучшение </a:t>
            </a:r>
          </a:p>
          <a:p>
            <a:r>
              <a:rPr lang="ru-RU" dirty="0"/>
              <a:t>Технологическое совершенствование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Инструментальная конвергенция говорит нам, что недостаточно просто задать безобидную цель!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5355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8081C-E56D-B0FA-0163-EE195256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</a:t>
            </a:r>
            <a:r>
              <a:rPr lang="en-US" dirty="0"/>
              <a:t>alignment </a:t>
            </a:r>
            <a:r>
              <a:rPr lang="ru-RU" dirty="0"/>
              <a:t>имеет смысл?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6D10CB-71DB-D888-AE0E-504490D95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Сценарии, где </a:t>
            </a:r>
            <a:r>
              <a:rPr lang="ru-RU" dirty="0" err="1"/>
              <a:t>alignment</a:t>
            </a:r>
            <a:r>
              <a:rPr lang="ru-RU" dirty="0"/>
              <a:t> приносит максимальную пользу</a:t>
            </a:r>
            <a:r>
              <a:rPr lang="en-US" dirty="0"/>
              <a:t>:</a:t>
            </a:r>
          </a:p>
          <a:p>
            <a:r>
              <a:rPr lang="ru-RU" dirty="0"/>
              <a:t>Чат-ассистенты</a:t>
            </a:r>
          </a:p>
          <a:p>
            <a:r>
              <a:rPr lang="ru-RU" dirty="0"/>
              <a:t>Системы генерации кода и агенты</a:t>
            </a:r>
          </a:p>
          <a:p>
            <a:r>
              <a:rPr lang="ru-RU" dirty="0"/>
              <a:t>Математика и логика</a:t>
            </a:r>
          </a:p>
          <a:p>
            <a:r>
              <a:rPr lang="ru-RU" dirty="0"/>
              <a:t>Безопасные RAG-системы</a:t>
            </a:r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В узких задачах с чёткой спецификацией и метрикой (например, классификация текстов или </a:t>
            </a:r>
            <a:r>
              <a:rPr lang="ru-RU" dirty="0" err="1"/>
              <a:t>intent-recognition</a:t>
            </a:r>
            <a:r>
              <a:rPr lang="ru-RU" dirty="0"/>
              <a:t>) сложные механизмы </a:t>
            </a:r>
            <a:r>
              <a:rPr lang="ru-RU" dirty="0" err="1"/>
              <a:t>alignment</a:t>
            </a:r>
            <a:r>
              <a:rPr lang="ru-RU" dirty="0"/>
              <a:t> </a:t>
            </a:r>
            <a:r>
              <a:rPr lang="ru-RU" b="1" dirty="0"/>
              <a:t>могут оказаться избыточными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Внедрение </a:t>
            </a:r>
            <a:r>
              <a:rPr lang="ru-RU" dirty="0" err="1"/>
              <a:t>alignment</a:t>
            </a:r>
            <a:r>
              <a:rPr lang="ru-RU" dirty="0"/>
              <a:t> следует рассматривать тактически: там, где модель взаимодействует с непредсказуемым окружением или вопросами этики и доверия, без него не обойтись.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921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8514C8-DD4C-C067-1B1E-780D062D0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«Налог на выравнивание» </a:t>
            </a:r>
            <a:r>
              <a:rPr lang="ru-RU" sz="4000" dirty="0" err="1"/>
              <a:t>vs</a:t>
            </a:r>
            <a:r>
              <a:rPr lang="ru-RU" sz="4000" dirty="0"/>
              <a:t> бизнес-ценность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88EE55-7040-4768-206C-C2CC3E93E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Внедрение </a:t>
            </a:r>
            <a:r>
              <a:rPr lang="ru-RU" dirty="0" err="1"/>
              <a:t>alignment</a:t>
            </a:r>
            <a:r>
              <a:rPr lang="ru-RU" dirty="0"/>
              <a:t> может потребовать дополнительных ресурсов:</a:t>
            </a:r>
          </a:p>
          <a:p>
            <a:r>
              <a:rPr lang="ru-RU" dirty="0"/>
              <a:t>Трудоёмкость сбора и разметки качественных </a:t>
            </a:r>
            <a:r>
              <a:rPr lang="ru-RU" dirty="0" err="1"/>
              <a:t>aligned</a:t>
            </a:r>
            <a:r>
              <a:rPr lang="ru-RU" dirty="0"/>
              <a:t>-данных.</a:t>
            </a:r>
          </a:p>
          <a:p>
            <a:r>
              <a:rPr lang="ru-RU" dirty="0"/>
              <a:t>Необходимость регулярного мониторинга и обновления правил или </a:t>
            </a:r>
            <a:r>
              <a:rPr lang="ru-RU" dirty="0" err="1"/>
              <a:t>reward</a:t>
            </a:r>
            <a:r>
              <a:rPr lang="ru-RU" dirty="0"/>
              <a:t>-механизмов.</a:t>
            </a:r>
          </a:p>
          <a:p>
            <a:r>
              <a:rPr lang="ru-RU" dirty="0"/>
              <a:t>Потенциальная задержка генерации ответов из-за дополнительных проверок.</a:t>
            </a:r>
            <a:endParaRPr lang="en-US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Однако выгода существенно превышает затраты:</a:t>
            </a:r>
          </a:p>
          <a:p>
            <a:r>
              <a:rPr lang="ru-RU" dirty="0"/>
              <a:t>Снижение рисков регуляторных штрафов и репутационных потерь.</a:t>
            </a:r>
          </a:p>
          <a:p>
            <a:r>
              <a:rPr lang="ru-RU" dirty="0"/>
              <a:t>Увеличение лояльности пользователей благодаря предсказуемому и безопасному поведению системы.</a:t>
            </a:r>
          </a:p>
          <a:p>
            <a:r>
              <a:rPr lang="ru-RU" dirty="0"/>
              <a:t>Рост долгосрочной ценности продукта за счёт минимизации инцидентов и поддержки </a:t>
            </a:r>
            <a:r>
              <a:rPr lang="ru-RU" dirty="0" err="1"/>
              <a:t>compliance</a:t>
            </a:r>
            <a:r>
              <a:rPr lang="ru-RU" dirty="0"/>
              <a:t>-требований.</a:t>
            </a:r>
            <a:endParaRPr lang="en-US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Таким образом, </a:t>
            </a:r>
            <a:r>
              <a:rPr lang="ru-RU" dirty="0" err="1"/>
              <a:t>alignment</a:t>
            </a:r>
            <a:r>
              <a:rPr lang="ru-RU" dirty="0"/>
              <a:t> становится «инвестиционным налогом», который окупается в виде устойчивого развития и масштабируемости решений.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7685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EA6C9-0D94-E927-F062-832D6748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Таксономия методов </a:t>
            </a:r>
            <a:r>
              <a:rPr lang="en-US" dirty="0"/>
              <a:t>alignment</a:t>
            </a:r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B5F7587-DDD4-428F-5E7D-F028290F76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599" y="1825625"/>
            <a:ext cx="793080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551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2C034-F856-575E-BD55-E01B6B87C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RLHF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E0052A-2253-6086-06D8-FB60583E3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0532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1" dirty="0"/>
              <a:t>RLHF</a:t>
            </a:r>
            <a:r>
              <a:rPr lang="ru-RU" sz="2400" dirty="0"/>
              <a:t> (</a:t>
            </a:r>
            <a:r>
              <a:rPr lang="ru-RU" sz="2400" dirty="0" err="1"/>
              <a:t>Reinforcement</a:t>
            </a:r>
            <a:r>
              <a:rPr lang="ru-RU" sz="2400" dirty="0"/>
              <a:t> Learning </a:t>
            </a:r>
            <a:r>
              <a:rPr lang="ru-RU" sz="2400" dirty="0" err="1"/>
              <a:t>from</a:t>
            </a:r>
            <a:r>
              <a:rPr lang="ru-RU" sz="2400" dirty="0"/>
              <a:t> Human </a:t>
            </a:r>
            <a:r>
              <a:rPr lang="ru-RU" sz="2400" dirty="0" err="1"/>
              <a:t>Feedback</a:t>
            </a:r>
            <a:r>
              <a:rPr lang="ru-RU" sz="2400" dirty="0"/>
              <a:t>) - это метод машинного обучения, который сочетает обучение с подкреплением и обратную связь от человека для улучшения поведения моделей, в частности больших языковых моделей (LLM).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54524F84-80F7-B45D-3638-818802E8C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014" y="1825625"/>
            <a:ext cx="7601181" cy="412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902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F824FD-BE54-A95A-7425-6B428AE6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 </a:t>
            </a:r>
            <a:r>
              <a:rPr lang="en-US" dirty="0"/>
              <a:t>RLAIF</a:t>
            </a:r>
            <a:endParaRPr lang="ru-RU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8503E7B-4961-3989-7481-62D1B211AD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943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8BCC3-B0B3-A4D8-98EE-309985BF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PPO - Proximal Policy Optimization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DC74B0-2F25-1C5D-90AB-EAC637A47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10235" cy="4667250"/>
          </a:xfrm>
        </p:spPr>
        <p:txBody>
          <a:bodyPr>
            <a:normAutofit fontScale="92500" lnSpcReduction="20000"/>
          </a:bodyPr>
          <a:lstStyle/>
          <a:p>
            <a:r>
              <a:rPr lang="ru-RU" sz="1600" dirty="0"/>
              <a:t>У агента есть начальная </a:t>
            </a:r>
            <a:r>
              <a:rPr lang="ru-RU" sz="1600" b="1" dirty="0"/>
              <a:t>политика</a:t>
            </a:r>
            <a:r>
              <a:rPr lang="ru-RU" sz="1600" dirty="0"/>
              <a:t> (стратегия), по которой он действует</a:t>
            </a:r>
            <a:r>
              <a:rPr lang="en-US" sz="1600" dirty="0"/>
              <a:t> </a:t>
            </a:r>
            <a:r>
              <a:rPr lang="ru-RU" sz="1600" dirty="0"/>
              <a:t>= модель, которую </a:t>
            </a:r>
            <a:r>
              <a:rPr lang="ru-RU" sz="1600" dirty="0" err="1"/>
              <a:t>тюним</a:t>
            </a:r>
            <a:endParaRPr lang="ru-RU" sz="1600" dirty="0"/>
          </a:p>
          <a:p>
            <a:r>
              <a:rPr lang="ru-RU" sz="1600" dirty="0"/>
              <a:t>Агент выполняет действия в среде (отвечает на вопросы), следуя своей текущей политике</a:t>
            </a:r>
          </a:p>
          <a:p>
            <a:r>
              <a:rPr lang="ru-RU" sz="1600" dirty="0"/>
              <a:t>PPO оценивает действие модели. Для этого обычно используется три модели: </a:t>
            </a:r>
            <a:r>
              <a:rPr lang="ru-RU" sz="1600" b="1" dirty="0" err="1"/>
              <a:t>reference</a:t>
            </a:r>
            <a:r>
              <a:rPr lang="ru-RU" sz="1600" b="1" dirty="0"/>
              <a:t> </a:t>
            </a:r>
            <a:r>
              <a:rPr lang="ru-RU" sz="1600" b="1" dirty="0" err="1"/>
              <a:t>model</a:t>
            </a:r>
            <a:r>
              <a:rPr lang="ru-RU" sz="1600" b="1" dirty="0"/>
              <a:t> </a:t>
            </a:r>
            <a:r>
              <a:rPr lang="ru-RU" sz="1600" dirty="0"/>
              <a:t>– модель, которая выступает "эталоном" для сравнения, </a:t>
            </a:r>
            <a:r>
              <a:rPr lang="ru-RU" sz="1600" b="1" dirty="0" err="1"/>
              <a:t>reward</a:t>
            </a:r>
            <a:r>
              <a:rPr lang="ru-RU" sz="1600" b="1" dirty="0"/>
              <a:t> </a:t>
            </a:r>
            <a:r>
              <a:rPr lang="ru-RU" sz="1600" b="1" dirty="0" err="1"/>
              <a:t>model</a:t>
            </a:r>
            <a:r>
              <a:rPr lang="ru-RU" sz="1600" b="1" dirty="0"/>
              <a:t> </a:t>
            </a:r>
            <a:r>
              <a:rPr lang="ru-RU" sz="1600" dirty="0"/>
              <a:t>– оценивает награду, которую агент получает за выполнение конкретного действия в конкретном состоянии, </a:t>
            </a:r>
            <a:r>
              <a:rPr lang="ru-RU" sz="1600" b="1" dirty="0" err="1"/>
              <a:t>value</a:t>
            </a:r>
            <a:r>
              <a:rPr lang="ru-RU" sz="1600" b="1" dirty="0"/>
              <a:t> </a:t>
            </a:r>
            <a:r>
              <a:rPr lang="ru-RU" sz="1600" b="1" dirty="0" err="1"/>
              <a:t>model</a:t>
            </a:r>
            <a:r>
              <a:rPr lang="ru-RU" sz="1600" b="1" dirty="0"/>
              <a:t> </a:t>
            </a:r>
            <a:r>
              <a:rPr lang="ru-RU" sz="1600" dirty="0"/>
              <a:t>– оценивает ожидаемую долгосрочную выгоду от действия, предсказывая будущие награды.</a:t>
            </a:r>
          </a:p>
          <a:p>
            <a:r>
              <a:rPr lang="ru-RU" sz="1600" dirty="0"/>
              <a:t>На основе этих оценок агент меняет свою политику. Здесь заключена основная особенность алгоритма: функция потерь в PPO устроена так, что слишком резкие изменения политики не допускаются. Это помогает агенту постепенно улучшать свою стратегию, не делая слишком больших шагов сразу, что делает процесс обучения более стабильным и эффективным.</a:t>
            </a:r>
          </a:p>
        </p:txBody>
      </p:sp>
      <p:pic>
        <p:nvPicPr>
          <p:cNvPr id="1026" name="Picture 2" descr="From PPO to GRPO. p.s. this is my first ever blog… | by Hassan | Medium">
            <a:extLst>
              <a:ext uri="{FF2B5EF4-FFF2-40B4-BE49-F238E27FC236}">
                <a16:creationId xmlns:a16="http://schemas.microsoft.com/office/drawing/2014/main" id="{C457EE65-EBEA-AADB-E8D5-52DB7E2C0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055" y="2851422"/>
            <a:ext cx="6217328" cy="155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110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3CF19-DAEB-40E7-5BBE-02A3AFA1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PPO </a:t>
            </a:r>
            <a:r>
              <a:rPr lang="ru-RU" dirty="0"/>
              <a:t>на котиках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C33AAC-FF32-9E9C-4020-5028467AD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1. Генерация: </a:t>
            </a:r>
            <a:r>
              <a:rPr lang="en-US" dirty="0"/>
              <a:t>Policy</a:t>
            </a:r>
            <a:r>
              <a:rPr lang="ru-RU" dirty="0"/>
              <a:t> создает текст "Кот сидел на..."</a:t>
            </a:r>
          </a:p>
          <a:p>
            <a:r>
              <a:rPr lang="ru-RU" dirty="0"/>
              <a:t>2. Оценка от Value Model:</a:t>
            </a:r>
          </a:p>
          <a:p>
            <a:pPr lvl="1"/>
            <a:r>
              <a:rPr lang="ru-RU" dirty="0"/>
              <a:t>"Кот" — ожидаемая награда 3.2</a:t>
            </a:r>
          </a:p>
          <a:p>
            <a:pPr lvl="1"/>
            <a:r>
              <a:rPr lang="ru-RU" dirty="0"/>
              <a:t>"сидел" — ожидаемая награда 3.8</a:t>
            </a:r>
          </a:p>
          <a:p>
            <a:pPr lvl="1"/>
            <a:r>
              <a:rPr lang="ru-RU" dirty="0"/>
              <a:t>"на" — ожидаемая награда 4.1</a:t>
            </a:r>
          </a:p>
          <a:p>
            <a:r>
              <a:rPr lang="ru-RU" dirty="0"/>
              <a:t>3. Получение финальной награды: </a:t>
            </a:r>
            <a:r>
              <a:rPr lang="ru-RU" dirty="0" err="1"/>
              <a:t>Reward</a:t>
            </a:r>
            <a:r>
              <a:rPr lang="ru-RU" dirty="0"/>
              <a:t> Model дает +6 за весь текст</a:t>
            </a:r>
          </a:p>
          <a:p>
            <a:r>
              <a:rPr lang="ru-RU" dirty="0"/>
              <a:t>4. GAE вычисляет </a:t>
            </a:r>
            <a:r>
              <a:rPr lang="ru-RU" dirty="0" err="1"/>
              <a:t>advantage</a:t>
            </a:r>
            <a:r>
              <a:rPr lang="ru-RU" dirty="0"/>
              <a:t> для каждого слова</a:t>
            </a:r>
            <a:r>
              <a:rPr lang="en-US" dirty="0"/>
              <a:t> (</a:t>
            </a:r>
            <a:r>
              <a:rPr lang="ru-RU" dirty="0"/>
              <a:t>что получили – что ожидали):</a:t>
            </a:r>
          </a:p>
          <a:p>
            <a:pPr lvl="1"/>
            <a:r>
              <a:rPr lang="ru-RU" dirty="0"/>
              <a:t>Для "сидел": </a:t>
            </a:r>
            <a:r>
              <a:rPr lang="ru-RU" dirty="0" err="1"/>
              <a:t>advantage</a:t>
            </a:r>
            <a:r>
              <a:rPr lang="ru-RU" dirty="0"/>
              <a:t> = +1.5 (хорошее слово!)</a:t>
            </a:r>
          </a:p>
          <a:p>
            <a:pPr lvl="1"/>
            <a:r>
              <a:rPr lang="ru-RU" dirty="0"/>
              <a:t>Для "на": </a:t>
            </a:r>
            <a:r>
              <a:rPr lang="ru-RU" dirty="0" err="1"/>
              <a:t>advantage</a:t>
            </a:r>
            <a:r>
              <a:rPr lang="ru-RU" dirty="0"/>
              <a:t> = -0.3 (так себе выбор)</a:t>
            </a:r>
          </a:p>
          <a:p>
            <a:r>
              <a:rPr lang="ru-RU" dirty="0"/>
              <a:t>5. Обучение:</a:t>
            </a:r>
          </a:p>
          <a:p>
            <a:pPr lvl="1"/>
            <a:r>
              <a:rPr lang="en-US" dirty="0"/>
              <a:t>Policy</a:t>
            </a:r>
            <a:r>
              <a:rPr lang="ru-RU" dirty="0"/>
              <a:t>: "Буду чаще выбирать похожие на 'сидел' слова"</a:t>
            </a:r>
          </a:p>
          <a:p>
            <a:pPr lvl="1"/>
            <a:r>
              <a:rPr lang="en-US" dirty="0"/>
              <a:t>Value</a:t>
            </a:r>
            <a:r>
              <a:rPr lang="ru-RU" dirty="0"/>
              <a:t>: "Обновлю свои оценки ситуаций"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9202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A7C5B-D8EE-91EC-11A0-312E7D38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PPO – </a:t>
            </a:r>
            <a:r>
              <a:rPr lang="ru-RU" dirty="0"/>
              <a:t>общий алгоритм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B82545-8EF7-84B7-1AE2-943D1F22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3509" cy="343883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Дано: </a:t>
            </a:r>
            <a:r>
              <a:rPr lang="ru-RU" dirty="0" err="1"/>
              <a:t>Reward</a:t>
            </a:r>
            <a:r>
              <a:rPr lang="ru-RU" dirty="0"/>
              <a:t> Model - </a:t>
            </a:r>
            <a:r>
              <a:rPr lang="en-US" dirty="0"/>
              <a:t>r</a:t>
            </a:r>
            <a:r>
              <a:rPr lang="el-GR" baseline="-25000" dirty="0"/>
              <a:t>φ</a:t>
            </a:r>
            <a:r>
              <a:rPr lang="ru-RU" dirty="0"/>
              <a:t>, SFT-модель </a:t>
            </a:r>
            <a:r>
              <a:rPr lang="el-GR" dirty="0"/>
              <a:t>π</a:t>
            </a:r>
            <a:r>
              <a:rPr lang="el-GR" baseline="-25000" dirty="0"/>
              <a:t>θ</a:t>
            </a:r>
            <a:r>
              <a:rPr lang="en-US" dirty="0"/>
              <a:t>, </a:t>
            </a:r>
            <a:r>
              <a:rPr lang="ru-RU" dirty="0"/>
              <a:t>датасет промптов D</a:t>
            </a:r>
          </a:p>
          <a:p>
            <a:r>
              <a:rPr lang="ru-RU" dirty="0"/>
              <a:t>берётся </a:t>
            </a:r>
            <a:r>
              <a:rPr lang="ru-RU" dirty="0" err="1"/>
              <a:t>промпт</a:t>
            </a:r>
            <a:r>
              <a:rPr lang="ru-RU" dirty="0"/>
              <a:t> x из D</a:t>
            </a:r>
          </a:p>
          <a:p>
            <a:r>
              <a:rPr lang="ru-RU" dirty="0"/>
              <a:t>генерируется ответ с помощью </a:t>
            </a:r>
            <a:r>
              <a:rPr lang="el-GR" dirty="0"/>
              <a:t>π</a:t>
            </a:r>
            <a:r>
              <a:rPr lang="el-GR" baseline="-25000" dirty="0"/>
              <a:t>θ</a:t>
            </a:r>
            <a:endParaRPr lang="ru-RU" dirty="0"/>
          </a:p>
          <a:p>
            <a:r>
              <a:rPr lang="ru-RU" dirty="0"/>
              <a:t>ответ оценивается с помощью </a:t>
            </a:r>
            <a:r>
              <a:rPr lang="en-US" dirty="0"/>
              <a:t>r</a:t>
            </a:r>
            <a:r>
              <a:rPr lang="el-GR" baseline="-25000" dirty="0"/>
              <a:t>φ</a:t>
            </a:r>
            <a:endParaRPr lang="ru-RU" dirty="0"/>
          </a:p>
          <a:p>
            <a:r>
              <a:rPr lang="ru-RU" dirty="0"/>
              <a:t>веса модели </a:t>
            </a:r>
            <a:r>
              <a:rPr lang="el-GR" dirty="0"/>
              <a:t>π</a:t>
            </a:r>
            <a:r>
              <a:rPr lang="el-GR" baseline="-25000" dirty="0"/>
              <a:t>θ </a:t>
            </a:r>
            <a:r>
              <a:rPr lang="ru-RU" dirty="0"/>
              <a:t>меняются так, чтобы следующие генерации имели награду больше</a:t>
            </a:r>
          </a:p>
          <a:p>
            <a:r>
              <a:rPr lang="ru-RU" dirty="0"/>
              <a:t>при этом не даём весам </a:t>
            </a:r>
            <a:r>
              <a:rPr lang="el-GR" dirty="0"/>
              <a:t>π</a:t>
            </a:r>
            <a:r>
              <a:rPr lang="el-GR" baseline="-25000" dirty="0"/>
              <a:t>θ </a:t>
            </a:r>
            <a:r>
              <a:rPr lang="ru-RU" dirty="0"/>
              <a:t>измениться сильно, штрафуя за удаление от изначальных параметров</a:t>
            </a:r>
          </a:p>
          <a:p>
            <a:endParaRPr lang="ru-RU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8170DBD-2773-2ED6-2E12-273E53B24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900" y="1825625"/>
            <a:ext cx="5725324" cy="3220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551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3DD1D-D3D7-8225-1FBB-C70AA899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 Model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AC7D8B-9F97-0B55-D221-EA728C25A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Качество </a:t>
            </a:r>
            <a:r>
              <a:rPr lang="ru-RU" dirty="0" err="1"/>
              <a:t>reward</a:t>
            </a:r>
            <a:r>
              <a:rPr lang="ru-RU" dirty="0"/>
              <a:t> модели критически зависит от данных предпочтений. </a:t>
            </a:r>
            <a:r>
              <a:rPr lang="ru-RU" dirty="0" err="1"/>
              <a:t>Аннотаторы</a:t>
            </a:r>
            <a:r>
              <a:rPr lang="ru-RU" dirty="0"/>
              <a:t> получают детальные инструкции о том, какие критерии оценивать — безопасность, полезность, правдивость. Вместо абсолютных оценок используются парные сравнения, поскольку они более надежны и менее субъективны.</a:t>
            </a:r>
            <a:endParaRPr lang="en-US" dirty="0"/>
          </a:p>
          <a:p>
            <a:r>
              <a:rPr lang="ru-RU" dirty="0" err="1"/>
              <a:t>Reward</a:t>
            </a:r>
            <a:r>
              <a:rPr lang="ru-RU" dirty="0"/>
              <a:t> модель обычно инициализируется из той же </a:t>
            </a:r>
            <a:r>
              <a:rPr lang="ru-RU" dirty="0" err="1"/>
              <a:t>предобученной</a:t>
            </a:r>
            <a:r>
              <a:rPr lang="ru-RU" dirty="0"/>
              <a:t> модели, что и SFT модель.</a:t>
            </a:r>
            <a:endParaRPr lang="en-US" dirty="0"/>
          </a:p>
          <a:p>
            <a:r>
              <a:rPr lang="ru-RU" dirty="0"/>
              <a:t>Для валидации используются ключевые метрики:</a:t>
            </a:r>
          </a:p>
          <a:p>
            <a:pPr lvl="1"/>
            <a:r>
              <a:rPr lang="ru-RU" dirty="0" err="1"/>
              <a:t>Accuracy</a:t>
            </a:r>
            <a:r>
              <a:rPr lang="ru-RU" dirty="0"/>
              <a:t> — точность предсказания предпочтений на </a:t>
            </a:r>
            <a:r>
              <a:rPr lang="ru-RU" dirty="0" err="1"/>
              <a:t>валидационном</a:t>
            </a:r>
            <a:r>
              <a:rPr lang="ru-RU" dirty="0"/>
              <a:t> наборе</a:t>
            </a:r>
          </a:p>
          <a:p>
            <a:pPr lvl="1"/>
            <a:r>
              <a:rPr lang="ru-RU" dirty="0" err="1"/>
              <a:t>Rank</a:t>
            </a:r>
            <a:r>
              <a:rPr lang="ru-RU" dirty="0"/>
              <a:t> </a:t>
            </a:r>
            <a:r>
              <a:rPr lang="ru-RU" dirty="0" err="1"/>
              <a:t>correlation</a:t>
            </a:r>
            <a:r>
              <a:rPr lang="ru-RU" dirty="0"/>
              <a:t> — корреляция </a:t>
            </a:r>
            <a:r>
              <a:rPr lang="ru-RU" dirty="0" err="1"/>
              <a:t>Спирмена</a:t>
            </a:r>
            <a:r>
              <a:rPr lang="ru-RU" dirty="0"/>
              <a:t> между предсказанными и истинными рангами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8648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2DF67-8194-2013-3B5E-280F0A9C7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- </a:t>
            </a:r>
            <a:r>
              <a:rPr lang="ru-RU" dirty="0" err="1"/>
              <a:t>Reward</a:t>
            </a:r>
            <a:r>
              <a:rPr lang="ru-RU" dirty="0"/>
              <a:t> </a:t>
            </a:r>
            <a:r>
              <a:rPr lang="ru-RU" dirty="0" err="1"/>
              <a:t>Hacking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5BC79B-C583-24E4-955C-97065FCFC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994709" cy="489281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Проблема: модель находит способы обмануть </a:t>
            </a:r>
            <a:r>
              <a:rPr lang="ru-RU" dirty="0" err="1"/>
              <a:t>reward</a:t>
            </a:r>
            <a:r>
              <a:rPr lang="ru-RU" dirty="0"/>
              <a:t> модель, не улучшая реальное качество. </a:t>
            </a:r>
          </a:p>
          <a:p>
            <a:pPr marL="0" indent="0">
              <a:buNone/>
            </a:pPr>
            <a:r>
              <a:rPr lang="ru-RU" dirty="0"/>
              <a:t>Типичные примеры:</a:t>
            </a:r>
          </a:p>
          <a:p>
            <a:r>
              <a:rPr lang="ru-RU" dirty="0"/>
              <a:t>Чрезмерное использование вежливых фраз</a:t>
            </a:r>
          </a:p>
          <a:p>
            <a:r>
              <a:rPr lang="ru-RU" dirty="0"/>
              <a:t>Чрезмерное увеличение длины ответов</a:t>
            </a:r>
          </a:p>
          <a:p>
            <a:r>
              <a:rPr lang="ru-RU" dirty="0"/>
              <a:t>Использование "маркеров" высокого качества</a:t>
            </a:r>
          </a:p>
          <a:p>
            <a:pPr marL="0" indent="0">
              <a:buNone/>
            </a:pPr>
            <a:r>
              <a:rPr lang="ru-RU" dirty="0"/>
              <a:t>Решения:</a:t>
            </a:r>
          </a:p>
          <a:p>
            <a:r>
              <a:rPr lang="ru-RU" dirty="0" err="1"/>
              <a:t>Length</a:t>
            </a:r>
            <a:r>
              <a:rPr lang="ru-RU" dirty="0"/>
              <a:t> </a:t>
            </a:r>
            <a:r>
              <a:rPr lang="ru-RU" dirty="0" err="1"/>
              <a:t>penalty</a:t>
            </a:r>
            <a:r>
              <a:rPr lang="ru-RU" dirty="0"/>
              <a:t>: Явное наказание за длину</a:t>
            </a:r>
          </a:p>
          <a:p>
            <a:r>
              <a:rPr lang="ru-RU" dirty="0"/>
              <a:t>Улучшение </a:t>
            </a:r>
            <a:r>
              <a:rPr lang="en-US" dirty="0"/>
              <a:t>reward </a:t>
            </a:r>
            <a:r>
              <a:rPr lang="ru-RU" dirty="0"/>
              <a:t>модели - обучение на более разнообразных данных</a:t>
            </a:r>
          </a:p>
          <a:p>
            <a:endParaRPr lang="ru-RU" dirty="0"/>
          </a:p>
        </p:txBody>
      </p:sp>
      <p:pic>
        <p:nvPicPr>
          <p:cNvPr id="2050" name="Picture 2" descr="Understanding Reward Hacking in AI: Challenges and Solutions | by Burak  Kuzucu | Medium">
            <a:extLst>
              <a:ext uri="{FF2B5EF4-FFF2-40B4-BE49-F238E27FC236}">
                <a16:creationId xmlns:a16="http://schemas.microsoft.com/office/drawing/2014/main" id="{E38E3C14-274B-E817-7E21-865EB5C89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000" y="1825625"/>
            <a:ext cx="5715001" cy="321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9624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3F158-000E-A08B-F7C0-DB470BBE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- </a:t>
            </a:r>
            <a:r>
              <a:rPr lang="en-US" dirty="0"/>
              <a:t>RM Drift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58035E-8933-96C4-7939-012565087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RM </a:t>
            </a:r>
            <a:r>
              <a:rPr lang="ru-RU" dirty="0" err="1"/>
              <a:t>Drift</a:t>
            </a:r>
            <a:r>
              <a:rPr lang="ru-RU" dirty="0"/>
              <a:t> — деградация </a:t>
            </a:r>
            <a:r>
              <a:rPr lang="ru-RU" dirty="0" err="1"/>
              <a:t>reward</a:t>
            </a:r>
            <a:r>
              <a:rPr lang="ru-RU" dirty="0"/>
              <a:t> модели при длительном использовании. </a:t>
            </a:r>
          </a:p>
          <a:p>
            <a:pPr marL="0" indent="0">
              <a:buNone/>
            </a:pPr>
            <a:r>
              <a:rPr lang="ru-RU" dirty="0"/>
              <a:t>Решения:</a:t>
            </a:r>
          </a:p>
          <a:p>
            <a:r>
              <a:rPr lang="ru-RU" dirty="0"/>
              <a:t>Периодическое переобучение </a:t>
            </a:r>
            <a:r>
              <a:rPr lang="ru-RU" dirty="0" err="1"/>
              <a:t>reward</a:t>
            </a:r>
            <a:r>
              <a:rPr lang="ru-RU" dirty="0"/>
              <a:t> модели</a:t>
            </a:r>
          </a:p>
          <a:p>
            <a:r>
              <a:rPr lang="ru-RU" dirty="0"/>
              <a:t>Использование ансамблей </a:t>
            </a:r>
            <a:r>
              <a:rPr lang="ru-RU" dirty="0" err="1"/>
              <a:t>reward</a:t>
            </a:r>
            <a:r>
              <a:rPr lang="ru-RU" dirty="0"/>
              <a:t> моделей</a:t>
            </a:r>
          </a:p>
          <a:p>
            <a:r>
              <a:rPr lang="ru-RU" dirty="0"/>
              <a:t>Валидация на h</a:t>
            </a:r>
            <a:r>
              <a:rPr lang="en-US" dirty="0"/>
              <a:t>o</a:t>
            </a:r>
            <a:r>
              <a:rPr lang="ru-RU" dirty="0" err="1"/>
              <a:t>ld-out</a:t>
            </a:r>
            <a:r>
              <a:rPr lang="ru-RU" dirty="0"/>
              <a:t> </a:t>
            </a:r>
            <a:r>
              <a:rPr lang="ru-RU" dirty="0" err="1"/>
              <a:t>ground-truth</a:t>
            </a:r>
            <a:r>
              <a:rPr lang="ru-RU" dirty="0"/>
              <a:t> задачах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6019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A934B-DAC1-EB62-0162-84613DC4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использовать </a:t>
            </a:r>
            <a:r>
              <a:rPr lang="en-US" dirty="0"/>
              <a:t>RLHF?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60320D-C6B1-0895-5B0E-1254DD33F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RLHF оправдан когда:</a:t>
            </a:r>
          </a:p>
          <a:p>
            <a:r>
              <a:rPr lang="ru-RU" dirty="0"/>
              <a:t>Высокие ставки качества и безопасности</a:t>
            </a:r>
          </a:p>
          <a:p>
            <a:r>
              <a:rPr lang="ru-RU" dirty="0"/>
              <a:t>Сложные целевые метрики</a:t>
            </a:r>
          </a:p>
          <a:p>
            <a:r>
              <a:rPr lang="ru-RU" dirty="0"/>
              <a:t>Достаточный бюджет</a:t>
            </a:r>
            <a:r>
              <a:rPr lang="en-US" dirty="0"/>
              <a:t> -</a:t>
            </a:r>
            <a:r>
              <a:rPr lang="ru-RU" dirty="0"/>
              <a:t> RLHF требует значительных ресурсов — </a:t>
            </a:r>
            <a:r>
              <a:rPr lang="ru-RU" dirty="0" err="1"/>
              <a:t>Meta</a:t>
            </a:r>
            <a:r>
              <a:rPr lang="ru-RU" dirty="0"/>
              <a:t> потратила $10-20M на аннотацию для </a:t>
            </a:r>
            <a:r>
              <a:rPr lang="ru-RU" dirty="0" err="1"/>
              <a:t>Llama</a:t>
            </a:r>
            <a:r>
              <a:rPr lang="ru-RU" dirty="0"/>
              <a:t> 2</a:t>
            </a:r>
          </a:p>
          <a:p>
            <a:r>
              <a:rPr lang="ru-RU" dirty="0"/>
              <a:t>Есть возможность многократных циклов сбора данных и обучения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Альтернативы для ограниченных ресурсов:</a:t>
            </a:r>
          </a:p>
          <a:p>
            <a:r>
              <a:rPr lang="ru-RU" dirty="0"/>
              <a:t>DPO (Direct </a:t>
            </a:r>
            <a:r>
              <a:rPr lang="ru-RU" dirty="0" err="1"/>
              <a:t>Preference</a:t>
            </a:r>
            <a:r>
              <a:rPr lang="ru-RU" dirty="0"/>
              <a:t> </a:t>
            </a:r>
            <a:r>
              <a:rPr lang="ru-RU" dirty="0" err="1"/>
              <a:t>Optimization</a:t>
            </a:r>
            <a:r>
              <a:rPr lang="ru-RU" dirty="0"/>
              <a:t>) — более простая альтернатива, которая не требует отдельной </a:t>
            </a:r>
            <a:r>
              <a:rPr lang="ru-RU" dirty="0" err="1"/>
              <a:t>reward</a:t>
            </a:r>
            <a:r>
              <a:rPr lang="ru-RU" dirty="0"/>
              <a:t> модели. DPO показывает сопоставимые результаты при меньших затратах, но может быть менее стабильной на сложных задачах.</a:t>
            </a:r>
          </a:p>
          <a:p>
            <a:r>
              <a:rPr lang="ru-RU" dirty="0" err="1"/>
              <a:t>Constitutional</a:t>
            </a:r>
            <a:r>
              <a:rPr lang="ru-RU" dirty="0"/>
              <a:t> AI — модель учится критиковать сама себя согласно предопределенным правилам.</a:t>
            </a:r>
          </a:p>
          <a:p>
            <a:r>
              <a:rPr lang="ru-RU" dirty="0"/>
              <a:t>RLAIF (</a:t>
            </a:r>
            <a:r>
              <a:rPr lang="ru-RU" dirty="0" err="1"/>
              <a:t>Reinforcement</a:t>
            </a:r>
            <a:r>
              <a:rPr lang="ru-RU" dirty="0"/>
              <a:t> Learning </a:t>
            </a:r>
            <a:r>
              <a:rPr lang="ru-RU" dirty="0" err="1"/>
              <a:t>from</a:t>
            </a:r>
            <a:r>
              <a:rPr lang="ru-RU" dirty="0"/>
              <a:t> AI </a:t>
            </a:r>
            <a:r>
              <a:rPr lang="ru-RU" dirty="0" err="1"/>
              <a:t>Feedback</a:t>
            </a:r>
            <a:r>
              <a:rPr lang="ru-RU" dirty="0"/>
              <a:t>) — использование LLM вместо людей для генерации предпочтений.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1310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F5DB0-C484-1C1E-FE1E-4E97DDB7F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KTO - Kahneman-Tversky Optimization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E4B0B-FF67-01AC-E623-84D6CED22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7964" cy="466725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Авторы метода подсмотрели идею </a:t>
            </a:r>
            <a:r>
              <a:rPr lang="ru-RU" dirty="0" err="1"/>
              <a:t>Loss</a:t>
            </a:r>
            <a:r>
              <a:rPr lang="ru-RU" dirty="0"/>
              <a:t> </a:t>
            </a:r>
            <a:r>
              <a:rPr lang="ru-RU" dirty="0" err="1"/>
              <a:t>Aversion</a:t>
            </a:r>
            <a:r>
              <a:rPr lang="ru-RU" dirty="0"/>
              <a:t> в экономической теории </a:t>
            </a:r>
            <a:r>
              <a:rPr lang="ru-RU" dirty="0" err="1"/>
              <a:t>Канемана</a:t>
            </a:r>
            <a:r>
              <a:rPr lang="ru-RU" dirty="0"/>
              <a:t> и Тверски.</a:t>
            </a:r>
          </a:p>
          <a:p>
            <a:r>
              <a:rPr lang="ru-RU" dirty="0"/>
              <a:t>Основная идея для метода: люди склонны переоценивать низкие вероятности возникновения альтернатив и недооценивать высокие. Кроме того, приобретенная ценность в результате действий оказывается менее значительной, чем потеря такой же ценности, и даже при малом риске потерь люди склонны отказываться от него.</a:t>
            </a:r>
          </a:p>
          <a:p>
            <a:r>
              <a:rPr lang="ru-RU" dirty="0"/>
              <a:t>Авторы вводят Human-</a:t>
            </a:r>
            <a:r>
              <a:rPr lang="ru-RU" dirty="0" err="1"/>
              <a:t>Aware</a:t>
            </a:r>
            <a:r>
              <a:rPr lang="ru-RU" dirty="0"/>
              <a:t> </a:t>
            </a:r>
            <a:r>
              <a:rPr lang="ru-RU" dirty="0" err="1"/>
              <a:t>Loss</a:t>
            </a:r>
            <a:r>
              <a:rPr lang="ru-RU" dirty="0"/>
              <a:t>, который моделирует такое восприятие. Здесь уже не нужны пары ответов модели: достаточно иметь бинарную оценку, которая показывает «хороший» он или «плохой». </a:t>
            </a:r>
            <a:r>
              <a:rPr lang="ru-RU" dirty="0" err="1"/>
              <a:t>Лосс</a:t>
            </a:r>
            <a:r>
              <a:rPr lang="ru-RU" dirty="0"/>
              <a:t> сначала оценивает относительную награду, используя референсную политику — вероятность получить тот же ответ, используя модель до начала дообучения. После этого относительная награда максимизируется с учетом KL-дивергенции и заданного желаемого промежутка между хорошими и плохими ответами.</a:t>
            </a:r>
          </a:p>
          <a:p>
            <a:endParaRPr lang="ru-RU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5CECAA1-01C1-17C4-0D74-1C899D72D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933" y="1690688"/>
            <a:ext cx="341947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F2B5319-5B0C-FA52-71D9-FB96C6526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514" y="4354053"/>
            <a:ext cx="3604311" cy="2138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416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FCD30-BC19-B65A-F349-A48D2FD83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DPO</a:t>
            </a:r>
            <a:r>
              <a:rPr lang="ru-RU" dirty="0"/>
              <a:t> - Direct </a:t>
            </a:r>
            <a:r>
              <a:rPr lang="ru-RU" dirty="0" err="1"/>
              <a:t>Preference</a:t>
            </a:r>
            <a:r>
              <a:rPr lang="ru-RU" dirty="0"/>
              <a:t> </a:t>
            </a:r>
            <a:r>
              <a:rPr lang="ru-RU" dirty="0" err="1"/>
              <a:t>Optimization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9060D6-FDB9-72F2-1B2C-A4A931DD2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20" y="5225666"/>
            <a:ext cx="11270381" cy="147584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DPO </a:t>
            </a:r>
            <a:r>
              <a:rPr lang="ru-RU" dirty="0"/>
              <a:t>- это метод дообучения больших языковых моделей, который позволяет напрямую оптимизировать модель на основе предпочтений человека без использования сложных процедур обучения с подкреплением, таких как PPO.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Вместо традиционного RLHF, где сначала обучают </a:t>
            </a:r>
            <a:r>
              <a:rPr lang="ru-RU" dirty="0" err="1"/>
              <a:t>reward</a:t>
            </a:r>
            <a:r>
              <a:rPr lang="ru-RU" dirty="0"/>
              <a:t>-модель, а затем проводят обучение с подкреплением (например, PPO), DPO использует прямую оптимизацию предпочтений через задачу бинарной классификации.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C88D9C1B-A436-037C-CE4C-124A1926E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452" y="1632334"/>
            <a:ext cx="3905250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572DF7F1-61FF-BA75-340F-A182EF06E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699" y="2170480"/>
            <a:ext cx="6256158" cy="217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567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46C0B-5992-4CAF-6BEB-C6E8C480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Подводные камни </a:t>
            </a:r>
            <a:r>
              <a:rPr lang="en-US" dirty="0"/>
              <a:t>DPO </a:t>
            </a:r>
            <a:r>
              <a:rPr lang="ru-RU" dirty="0"/>
              <a:t>и </a:t>
            </a:r>
            <a:r>
              <a:rPr lang="ru-RU" dirty="0" err="1"/>
              <a:t>offline</a:t>
            </a:r>
            <a:r>
              <a:rPr lang="ru-RU" dirty="0"/>
              <a:t>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E52DE7-C163-B83B-6FF4-714476BC2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Критическая важность качества пар - исследования подтверждают, что качество предпочтительных пар значительно важнее их объема. Некачественные пары с малым зазором между ответами могут приводить к шумным обучающим сигналам.</a:t>
            </a:r>
          </a:p>
          <a:p>
            <a:r>
              <a:rPr lang="ru-RU" dirty="0"/>
              <a:t>Присутствие выбросов в данных может существенно снижать эффективность </a:t>
            </a:r>
            <a:r>
              <a:rPr lang="ru-RU" dirty="0" err="1"/>
              <a:t>batch-level</a:t>
            </a:r>
            <a:r>
              <a:rPr lang="ru-RU" dirty="0"/>
              <a:t> адаптации β и общую производительность модели.</a:t>
            </a:r>
          </a:p>
          <a:p>
            <a:r>
              <a:rPr lang="ru-RU" dirty="0"/>
              <a:t>Избыточная оптимизация на </a:t>
            </a:r>
            <a:r>
              <a:rPr lang="ru-RU" dirty="0" err="1"/>
              <a:t>safety</a:t>
            </a:r>
            <a:r>
              <a:rPr lang="ru-RU" dirty="0"/>
              <a:t>-ориентированных данных может приводить к чрезмерной осторожности модели, когда она отказывается отвечать на легитимные запросы.</a:t>
            </a:r>
          </a:p>
          <a:p>
            <a:r>
              <a:rPr lang="ru-RU" dirty="0"/>
              <a:t>Многомерные датасеты: Эффективное управление различными аспектами выравнивания требует использования структурированных данных с тегами по измерениям (</a:t>
            </a:r>
            <a:r>
              <a:rPr lang="ru-RU" dirty="0" err="1"/>
              <a:t>safety</a:t>
            </a:r>
            <a:r>
              <a:rPr lang="ru-RU" dirty="0"/>
              <a:t>/</a:t>
            </a:r>
            <a:r>
              <a:rPr lang="ru-RU" dirty="0" err="1"/>
              <a:t>helpfulness</a:t>
            </a:r>
            <a:r>
              <a:rPr lang="ru-RU" dirty="0"/>
              <a:t>/</a:t>
            </a:r>
            <a:r>
              <a:rPr lang="ru-RU" dirty="0" err="1"/>
              <a:t>style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91494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ED6A8-C7EC-875B-133A-9CDEC8A7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GRPO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D6052-1360-550C-6A96-685C8AA94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78188" cy="435133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Взяв PPO-алгоритм за основу, авторы </a:t>
            </a:r>
            <a:r>
              <a:rPr lang="ru-RU" dirty="0" err="1"/>
              <a:t>DeepSeekMath</a:t>
            </a:r>
            <a:r>
              <a:rPr lang="ru-RU" dirty="0"/>
              <a:t> предложили небольшую его модификацию – </a:t>
            </a:r>
            <a:r>
              <a:rPr lang="ru-RU" b="1" dirty="0"/>
              <a:t>Group </a:t>
            </a:r>
            <a:r>
              <a:rPr lang="ru-RU" b="1" dirty="0" err="1"/>
              <a:t>Relative</a:t>
            </a:r>
            <a:r>
              <a:rPr lang="ru-RU" b="1" dirty="0"/>
              <a:t> Policy </a:t>
            </a:r>
            <a:r>
              <a:rPr lang="ru-RU" b="1" dirty="0" err="1"/>
              <a:t>Optimization</a:t>
            </a:r>
            <a:r>
              <a:rPr lang="ru-RU" b="1" dirty="0"/>
              <a:t> (GRPO)</a:t>
            </a:r>
            <a:r>
              <a:rPr lang="ru-RU" dirty="0"/>
              <a:t>.</a:t>
            </a:r>
          </a:p>
          <a:p>
            <a:r>
              <a:rPr lang="ru-RU" dirty="0"/>
              <a:t>Из алгоритма PPO выкинули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, которая, в отличие от других моделей оценки, требует обучения и потребляет из-за этого много ресурсов и памяти. Вместо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в GRPO мы используем среднюю награду от группы ответов на один и тот же вопрос, чтобы определить, насколько хороши действия модели. </a:t>
            </a:r>
            <a:endParaRPr lang="en-US" dirty="0"/>
          </a:p>
          <a:p>
            <a:r>
              <a:rPr lang="ru-RU" dirty="0"/>
              <a:t>Это компенсирует оценку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и делает обучение более эффективным и менее ресурсоемким.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8CEA483-BC89-8F34-8345-78C3ECF81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998" y="1690688"/>
            <a:ext cx="7424002" cy="338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053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367E1-B606-8193-4020-61D18B9A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GRPO</a:t>
            </a:r>
            <a:endParaRPr lang="ru-RU" dirty="0"/>
          </a:p>
        </p:txBody>
      </p:sp>
      <p:pic>
        <p:nvPicPr>
          <p:cNvPr id="8194" name="Picture 2" descr="Image">
            <a:extLst>
              <a:ext uri="{FF2B5EF4-FFF2-40B4-BE49-F238E27FC236}">
                <a16:creationId xmlns:a16="http://schemas.microsoft.com/office/drawing/2014/main" id="{E51BA3F9-D14A-9F7B-C215-803F5CF2D0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19" y="1962597"/>
            <a:ext cx="5555154" cy="293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1CDAC5BA-16A9-B9DF-101B-3B9AB4781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531" y="1962597"/>
            <a:ext cx="5308269" cy="321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392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E0C22-7383-D285-7E78-012F1A58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что использовать?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AC4D-3097-4A2A-41D2-E3C3E2791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9493" cy="4667250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ru-RU" sz="1600" b="1" dirty="0"/>
              <a:t>DPO (универсальный </a:t>
            </a:r>
            <a:r>
              <a:rPr lang="ru-RU" sz="1600" b="1" dirty="0" err="1"/>
              <a:t>baseline</a:t>
            </a:r>
            <a:r>
              <a:rPr lang="ru-RU" sz="1600" b="1" dirty="0"/>
              <a:t>):</a:t>
            </a:r>
          </a:p>
          <a:p>
            <a:pPr fontAlgn="base"/>
            <a:r>
              <a:rPr lang="ru-RU" sz="1600" dirty="0"/>
              <a:t>Когда: большинство ассистентских задач, ограниченный бюджет</a:t>
            </a:r>
          </a:p>
          <a:p>
            <a:pPr fontAlgn="base"/>
            <a:r>
              <a:rPr lang="ru-RU" sz="1600" dirty="0"/>
              <a:t>Почему: прост, стабилен, дает 70–90% эффекта RLHF за 20–30% стоимости</a:t>
            </a:r>
          </a:p>
          <a:p>
            <a:pPr fontAlgn="base"/>
            <a:r>
              <a:rPr lang="ru-RU" sz="1600" dirty="0"/>
              <a:t>На что смотреть: β (сила отклонения), баланс датасета по нужным свойствам и </a:t>
            </a:r>
            <a:r>
              <a:rPr lang="ru-RU" sz="1600" dirty="0" err="1"/>
              <a:t>helpfulness</a:t>
            </a:r>
            <a:r>
              <a:rPr lang="ru-RU" sz="1600" dirty="0"/>
              <a:t>/</a:t>
            </a:r>
            <a:r>
              <a:rPr lang="ru-RU" sz="1600" dirty="0" err="1"/>
              <a:t>safety</a:t>
            </a:r>
            <a:endParaRPr lang="ru-RU" sz="1600" dirty="0"/>
          </a:p>
          <a:p>
            <a:pPr marL="0" indent="0" fontAlgn="base">
              <a:buNone/>
            </a:pPr>
            <a:r>
              <a:rPr lang="ru-RU" sz="1600" b="1" dirty="0"/>
              <a:t>KTO (эконом‑класс и устойчивость):</a:t>
            </a:r>
          </a:p>
          <a:p>
            <a:pPr fontAlgn="base"/>
            <a:r>
              <a:rPr lang="ru-RU" sz="1600" dirty="0"/>
              <a:t>Когда: мало ресурсов/GPU, нет пар предпочтений, важно сохранять знания и стиль</a:t>
            </a:r>
            <a:endParaRPr lang="ru-RU" sz="1400" dirty="0"/>
          </a:p>
          <a:p>
            <a:pPr marL="0" indent="0" fontAlgn="base">
              <a:buNone/>
            </a:pPr>
            <a:r>
              <a:rPr lang="ru-RU" sz="1600" b="1" dirty="0"/>
              <a:t>RLHF (PPO с RM):</a:t>
            </a:r>
          </a:p>
          <a:p>
            <a:pPr fontAlgn="base"/>
            <a:r>
              <a:rPr lang="ru-RU" sz="1600" dirty="0"/>
              <a:t>Когда: высокие ставки, нужна точная калибровка поведения, есть команда и бюджет; сложные компромиссы </a:t>
            </a:r>
            <a:r>
              <a:rPr lang="ru-RU" sz="1600" dirty="0" err="1"/>
              <a:t>safety</a:t>
            </a:r>
            <a:r>
              <a:rPr lang="ru-RU" sz="1600" dirty="0"/>
              <a:t> </a:t>
            </a:r>
            <a:r>
              <a:rPr lang="en-US" sz="1600" dirty="0"/>
              <a:t>vs </a:t>
            </a:r>
            <a:r>
              <a:rPr lang="ru-RU" sz="1600" dirty="0" err="1"/>
              <a:t>helpfulness</a:t>
            </a:r>
            <a:endParaRPr lang="ru-RU" sz="1600" dirty="0"/>
          </a:p>
          <a:p>
            <a:pPr fontAlgn="base"/>
            <a:r>
              <a:rPr lang="ru-RU" sz="1600" dirty="0"/>
              <a:t>Риски: </a:t>
            </a:r>
            <a:r>
              <a:rPr lang="ru-RU" sz="1600" dirty="0" err="1"/>
              <a:t>reward</a:t>
            </a:r>
            <a:r>
              <a:rPr lang="ru-RU" sz="1600" dirty="0"/>
              <a:t> </a:t>
            </a:r>
            <a:r>
              <a:rPr lang="ru-RU" sz="1600" dirty="0" err="1"/>
              <a:t>hacking</a:t>
            </a:r>
            <a:r>
              <a:rPr lang="ru-RU" sz="1600" dirty="0"/>
              <a:t>, дорогая итерация. Обязательны хорошие бенчмарки и RM‑валидация</a:t>
            </a:r>
            <a:endParaRPr lang="ru-RU" sz="1400" dirty="0"/>
          </a:p>
          <a:p>
            <a:pPr marL="0" indent="0" fontAlgn="base">
              <a:buNone/>
            </a:pPr>
            <a:r>
              <a:rPr lang="ru-RU" sz="1600" b="1" dirty="0"/>
              <a:t>GRPO (</a:t>
            </a:r>
            <a:r>
              <a:rPr lang="ru-RU" sz="1600" b="1" dirty="0" err="1"/>
              <a:t>reasoning</a:t>
            </a:r>
            <a:r>
              <a:rPr lang="ru-RU" sz="1600" b="1" dirty="0"/>
              <a:t>/код/математика):</a:t>
            </a:r>
          </a:p>
          <a:p>
            <a:pPr fontAlgn="base"/>
            <a:r>
              <a:rPr lang="ru-RU" sz="1600" dirty="0"/>
              <a:t>Когда: есть тесты/верификация; важен </a:t>
            </a:r>
            <a:r>
              <a:rPr lang="ru-RU" sz="1600" dirty="0" err="1"/>
              <a:t>pass@k</a:t>
            </a:r>
            <a:r>
              <a:rPr lang="ru-RU" sz="1600" dirty="0"/>
              <a:t>/решаемость. Даёт стабильные выигрыши там, где можно считать награду</a:t>
            </a:r>
            <a:endParaRPr lang="ru-RU" sz="1400" dirty="0"/>
          </a:p>
          <a:p>
            <a:pPr marL="0" indent="0" fontAlgn="base">
              <a:buNone/>
            </a:pPr>
            <a:r>
              <a:rPr lang="ru-RU" sz="1600" b="1" dirty="0"/>
              <a:t>RLAIF:</a:t>
            </a:r>
          </a:p>
          <a:p>
            <a:pPr fontAlgn="base"/>
            <a:r>
              <a:rPr lang="ru-RU" sz="1600" dirty="0"/>
              <a:t>Когда: нужно быстро расширить датасет предпочтений и внедрить понятные политики. Всегда держите человеческую проверку на критичных кейсах</a:t>
            </a:r>
          </a:p>
          <a:p>
            <a:pPr marL="0" indent="0" fontAlgn="base">
              <a:buNone/>
            </a:pPr>
            <a:r>
              <a:rPr lang="ru-RU" sz="1600" b="1" dirty="0"/>
              <a:t>Только SFT:</a:t>
            </a:r>
          </a:p>
          <a:p>
            <a:pPr fontAlgn="base"/>
            <a:r>
              <a:rPr lang="ru-RU" sz="1600" dirty="0"/>
              <a:t>Когда: узкая задача с явной метрикой (классификация, </a:t>
            </a:r>
            <a:r>
              <a:rPr lang="en-US" sz="1600" dirty="0"/>
              <a:t>NER</a:t>
            </a:r>
            <a:r>
              <a:rPr lang="ru-RU" sz="1600" dirty="0"/>
              <a:t>, генерация по шаблону), низкий риск и четкая спецификация</a:t>
            </a:r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060587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3C3E32-5F2B-1477-D06C-3C987220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что использовать?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968C43-5021-DEE5-CE48-F616E180D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ru-RU" b="1" dirty="0"/>
              <a:t>Не идите в </a:t>
            </a:r>
            <a:r>
              <a:rPr lang="en-US" b="1" dirty="0"/>
              <a:t>alignment</a:t>
            </a:r>
            <a:r>
              <a:rPr lang="ru-RU" b="1" dirty="0"/>
              <a:t>, если:</a:t>
            </a:r>
          </a:p>
          <a:p>
            <a:pPr fontAlgn="base"/>
            <a:r>
              <a:rPr lang="ru-RU" dirty="0"/>
              <a:t>Нет четкой </a:t>
            </a:r>
            <a:r>
              <a:rPr lang="ru-RU" dirty="0" err="1"/>
              <a:t>offline</a:t>
            </a:r>
            <a:r>
              <a:rPr lang="ru-RU" dirty="0"/>
              <a:t>‑метрики и зрелого конвейера</a:t>
            </a:r>
            <a:r>
              <a:rPr lang="en-US" dirty="0"/>
              <a:t> </a:t>
            </a:r>
            <a:r>
              <a:rPr lang="ru-RU" dirty="0"/>
              <a:t>оценки</a:t>
            </a:r>
          </a:p>
          <a:p>
            <a:pPr fontAlgn="base"/>
            <a:r>
              <a:rPr lang="ru-RU" dirty="0"/>
              <a:t>Нечем валидировать RM и нет бюджета на многократные итерации</a:t>
            </a:r>
          </a:p>
          <a:p>
            <a:pPr fontAlgn="base"/>
            <a:r>
              <a:rPr lang="ru-RU" dirty="0"/>
              <a:t>Бизнес‑метрики не чувствительны к тонкой настройке ответов</a:t>
            </a:r>
          </a:p>
          <a:p>
            <a:pPr marL="0" indent="0" fontAlgn="base">
              <a:buNone/>
            </a:pPr>
            <a:r>
              <a:rPr lang="ru-RU" b="1" dirty="0"/>
              <a:t>Триггеры к переходу SFT → DPO:</a:t>
            </a:r>
          </a:p>
          <a:p>
            <a:pPr fontAlgn="base"/>
            <a:r>
              <a:rPr lang="ru-RU" dirty="0"/>
              <a:t>Высокая вариативность ответов, отказы без причины, жалобы пользователей на стиль/тональность</a:t>
            </a:r>
          </a:p>
          <a:p>
            <a:pPr marL="0" indent="0" fontAlgn="base">
              <a:buNone/>
            </a:pPr>
            <a:r>
              <a:rPr lang="ru-RU" b="1" dirty="0"/>
              <a:t>Не усложняйте DPO, если:</a:t>
            </a:r>
          </a:p>
          <a:p>
            <a:pPr fontAlgn="base"/>
            <a:r>
              <a:rPr lang="ru-RU" dirty="0" err="1"/>
              <a:t>Валидационные</a:t>
            </a:r>
            <a:r>
              <a:rPr lang="ru-RU" dirty="0"/>
              <a:t> и бизнесовые метрики растут</a:t>
            </a:r>
          </a:p>
          <a:p>
            <a:pPr fontAlgn="base"/>
            <a:r>
              <a:rPr lang="ru-RU" dirty="0"/>
              <a:t>Избыточные отказы решаются балансировкой датасета и настройкой β</a:t>
            </a:r>
          </a:p>
          <a:p>
            <a:pPr marL="0" indent="0" fontAlgn="base">
              <a:buNone/>
            </a:pPr>
            <a:r>
              <a:rPr lang="ru-RU" b="1" dirty="0"/>
              <a:t>Триггеры к переходу DPO → PPO/GRPO:</a:t>
            </a:r>
          </a:p>
          <a:p>
            <a:pPr fontAlgn="base"/>
            <a:r>
              <a:rPr lang="ru-RU" dirty="0"/>
              <a:t>Плато по </a:t>
            </a:r>
            <a:r>
              <a:rPr lang="ru-RU" dirty="0" err="1"/>
              <a:t>offline</a:t>
            </a:r>
            <a:r>
              <a:rPr lang="ru-RU" dirty="0"/>
              <a:t> и AB‑метрикам, остаются качественные дефекты, которые не правятся данными</a:t>
            </a:r>
          </a:p>
          <a:p>
            <a:pPr fontAlgn="base"/>
            <a:r>
              <a:rPr lang="ru-RU" dirty="0"/>
              <a:t>Есть доступная автоматическая награда (тесты), а pass@1/</a:t>
            </a:r>
            <a:r>
              <a:rPr lang="ru-RU" dirty="0" err="1"/>
              <a:t>solve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 застыл</a:t>
            </a:r>
          </a:p>
          <a:p>
            <a:pPr fontAlgn="base"/>
            <a:r>
              <a:rPr lang="ru-RU" dirty="0"/>
              <a:t>Требуется более точный баланс безопасности (избыточные/недостаточные отказы)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4241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1851</Words>
  <Application>Microsoft Office PowerPoint</Application>
  <PresentationFormat>Широкоэкранный</PresentationFormat>
  <Paragraphs>164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Тема Office</vt:lpstr>
      <vt:lpstr>Alignment</vt:lpstr>
      <vt:lpstr>Вспомним основные шаги обучения LLM</vt:lpstr>
      <vt:lpstr>Общая схема обучения</vt:lpstr>
      <vt:lpstr>Почему не хватило SFT?</vt:lpstr>
      <vt:lpstr>Почему не хватило SFT?</vt:lpstr>
      <vt:lpstr>Alignment</vt:lpstr>
      <vt:lpstr>Instrumental Convergence</vt:lpstr>
      <vt:lpstr>Пять базовых стратегий любого агента</vt:lpstr>
      <vt:lpstr>Где alignment имеет смысл?</vt:lpstr>
      <vt:lpstr>«Налог на выравнивание» vs бизнес-ценность</vt:lpstr>
      <vt:lpstr>Таксономия методов alignment</vt:lpstr>
      <vt:lpstr>RLHF</vt:lpstr>
      <vt:lpstr>И RLAIF</vt:lpstr>
      <vt:lpstr>PPO - Proximal Policy Optimization </vt:lpstr>
      <vt:lpstr>PPO на котиках</vt:lpstr>
      <vt:lpstr>PPO – общий алгоритм</vt:lpstr>
      <vt:lpstr>Reward Model</vt:lpstr>
      <vt:lpstr>Проблемы - Reward Hacking</vt:lpstr>
      <vt:lpstr>Проблемы - RM Drift</vt:lpstr>
      <vt:lpstr>Когда использовать RLHF?</vt:lpstr>
      <vt:lpstr>KTO - Kahneman-Tversky Optimization</vt:lpstr>
      <vt:lpstr>DPO - Direct Preference Optimization</vt:lpstr>
      <vt:lpstr>Подводные камни DPO и offline методов</vt:lpstr>
      <vt:lpstr>GRPO</vt:lpstr>
      <vt:lpstr>GRPO</vt:lpstr>
      <vt:lpstr>Когда что использовать?</vt:lpstr>
      <vt:lpstr>Когда что использовать?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Кристина Желтова</dc:creator>
  <cp:lastModifiedBy>Кристина Желтова</cp:lastModifiedBy>
  <cp:revision>34</cp:revision>
  <dcterms:created xsi:type="dcterms:W3CDTF">2025-09-13T20:25:48Z</dcterms:created>
  <dcterms:modified xsi:type="dcterms:W3CDTF">2026-03-26T10:34:20Z</dcterms:modified>
</cp:coreProperties>
</file>